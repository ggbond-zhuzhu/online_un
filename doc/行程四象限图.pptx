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4660"/>
  </p:normalViewPr>
  <p:slideViewPr>
    <p:cSldViewPr snapToGrid="0">
      <p:cViewPr varScale="1">
        <p:scale>
          <a:sx n="78" d="100"/>
          <a:sy n="78" d="100"/>
        </p:scale>
        <p:origin x="63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6:23:27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24451,'30580'50'0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6:24:07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1T16:24:07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1FA37B-6BDF-9BD4-7214-7D81BB544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2E129A7-F80C-A486-6B4A-BAB3A1105B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7CFFC7-F5DF-41C5-3631-BC1BFA843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6C484-6F68-4205-BB8F-F3668821A656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165F30-B670-1E81-354C-72446297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78DE4D-1079-88F0-3FB5-9012117EB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9AE22-2ECD-4EB6-88E4-D6EC7600A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319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54D435-9F7A-7D8F-339E-A54075196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5F329B-1C04-80EF-BD09-B5D6487E5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CEF665-95AC-E251-C356-FF09B0ECF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6C484-6F68-4205-BB8F-F3668821A656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F8DEC5-5B62-70A7-2BC1-AD7797518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BC82C1-04E2-7F7D-7417-C801DB188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9AE22-2ECD-4EB6-88E4-D6EC7600A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323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F4B148-A4B3-110F-A60B-C691DEE24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62A352-E776-5DDD-5519-AB729951E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CB60C7-CFF4-8B3B-0080-D1244A163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6C484-6F68-4205-BB8F-F3668821A656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24C9ED-F851-CA3A-F97C-91F6546E2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61E810-9854-BCB5-E87A-E3594F205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9AE22-2ECD-4EB6-88E4-D6EC7600A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144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C9FE42-983D-B136-FE19-2408AE54D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910208-1EF7-7DAA-CE26-515D5B8761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3C74F7-78AC-D98E-D7FE-AF652E83F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1DDD5C-53CC-55E2-C849-14C8A338D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6C484-6F68-4205-BB8F-F3668821A656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554A77-7669-B581-81B1-5476DF074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717830-C611-D2CB-AF36-A2534D468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9AE22-2ECD-4EB6-88E4-D6EC7600A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017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574307-CF1E-54FB-B7D5-CD9CB1F0A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7F75C2-F41C-F705-2763-40C13A9F6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53314E-A800-925F-F988-2D38A5D0F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013C3AE-2F63-E686-93A6-40646E1EC3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359163B-F2EC-ADA9-405A-613BB392F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BAC32A-B6EA-10F0-4A1A-4D625B998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6C484-6F68-4205-BB8F-F3668821A656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16A5EF7-5C9F-2F23-D60D-04C6CBD88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46D2DC3-5751-7B4E-C7AB-41F83CE82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9AE22-2ECD-4EB6-88E4-D6EC7600A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362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D9B725-E1EA-4A9B-2AD2-32A2D7B28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1F99932-7A90-FE47-C3D7-CC840D189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6C484-6F68-4205-BB8F-F3668821A656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6432C7-10AD-5975-E4A0-688D5849D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052877-E1A7-EB60-D756-5004C96E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9AE22-2ECD-4EB6-88E4-D6EC7600A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76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B9A1FA7-6E2C-EB3C-DF91-9CD86B24C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6C484-6F68-4205-BB8F-F3668821A656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7B6522-CAC1-EBD1-8379-0E83FB754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91DC34-EBF6-2A84-38DD-2EC8C875D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9AE22-2ECD-4EB6-88E4-D6EC7600A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4621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EE3A21-1C07-0BB5-B23C-FE3A939A7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3D28B-7732-7A71-F4F2-C9039FE13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886710-948F-1186-6E8C-3BF789BEA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2AE6B4-8E30-630A-3F45-58DF5EEA6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6C484-6F68-4205-BB8F-F3668821A656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BDF9BB-B626-8CDD-A109-44065FA56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0B11A1-A141-ADAC-F961-C56FFFECB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9AE22-2ECD-4EB6-88E4-D6EC7600A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304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3FDB7C-61AF-91BF-BD46-F41E9097A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866544F-B24A-13C6-BD72-94AE0F38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31F0AB-8A11-A3D5-F9A9-90674C4C0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BB8042-F0AC-03B0-4A68-5EA1807CD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6C484-6F68-4205-BB8F-F3668821A656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68D42F-29F2-29D6-85E6-3DAEB2C22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03B101-6DFF-090C-B0A4-D8F9956C5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9AE22-2ECD-4EB6-88E4-D6EC7600A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197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415BC6-34CE-EE45-CB3B-31026B97C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48A3014-BEF7-1C1A-4D54-3DBF7F86AA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7CBF0C-514A-B715-106D-D105E210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6C484-6F68-4205-BB8F-F3668821A656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EF27C0-4E30-9E87-D5C2-27DE60C36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3ED7B3-E12F-4623-787A-4A7CD71F1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9AE22-2ECD-4EB6-88E4-D6EC7600A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658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7E4B2B0-93DA-8D2F-E157-41E4C869BD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C949ABB-C3A9-47A0-8EDF-637AA97E8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046F59-FD13-B934-16CF-66DC66D81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6C484-6F68-4205-BB8F-F3668821A656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3CCC4D-788C-E439-B067-CEB25711F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4C3E1F-370F-6C34-D37E-35C8E5725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9AE22-2ECD-4EB6-88E4-D6EC7600A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832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6F7048-C976-8906-0151-45D2F13F7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38D690-4965-E107-5067-C55573C27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0A4579-0C48-F3DB-69AE-77EB970E76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6C484-6F68-4205-BB8F-F3668821A656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4B0AA7-1B41-C0D7-712A-64543E706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850986-EFF1-5B83-F1A7-5D00C4A948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9AE22-2ECD-4EB6-88E4-D6EC7600A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7220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10" Type="http://schemas.openxmlformats.org/officeDocument/2006/relationships/customXml" Target="../ink/ink3.xml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4B6F161-72D1-90DC-F76A-51D60E7529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300448"/>
              </p:ext>
            </p:extLst>
          </p:nvPr>
        </p:nvGraphicFramePr>
        <p:xfrm>
          <a:off x="6419653" y="612742"/>
          <a:ext cx="4967926" cy="2311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8000">
                  <a:extLst>
                    <a:ext uri="{9D8B030D-6E8A-4147-A177-3AD203B41FA5}">
                      <a16:colId xmlns:a16="http://schemas.microsoft.com/office/drawing/2014/main" val="1074916070"/>
                    </a:ext>
                  </a:extLst>
                </a:gridCol>
                <a:gridCol w="963925">
                  <a:extLst>
                    <a:ext uri="{9D8B030D-6E8A-4147-A177-3AD203B41FA5}">
                      <a16:colId xmlns:a16="http://schemas.microsoft.com/office/drawing/2014/main" val="3819684474"/>
                    </a:ext>
                  </a:extLst>
                </a:gridCol>
                <a:gridCol w="3696001">
                  <a:extLst>
                    <a:ext uri="{9D8B030D-6E8A-4147-A177-3AD203B41FA5}">
                      <a16:colId xmlns:a16="http://schemas.microsoft.com/office/drawing/2014/main" val="1313673945"/>
                    </a:ext>
                  </a:extLst>
                </a:gridCol>
              </a:tblGrid>
              <a:tr h="57789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教务系统课程表导入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对接高校教务接口，一键导入课程名称、时间、地点、教师信息，解决手动录入繁琐问题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62901708"/>
                  </a:ext>
                </a:extLst>
              </a:tr>
              <a:tr h="57789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固定双次提醒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默认配置提前 </a:t>
                      </a:r>
                      <a:r>
                        <a:rPr lang="en-US" altLang="zh-CN" sz="1100" u="none" strike="noStrike">
                          <a:effectLst/>
                        </a:rPr>
                        <a:t>1 </a:t>
                      </a:r>
                      <a:r>
                        <a:rPr lang="zh-CN" altLang="en-US" sz="1100" u="none" strike="noStrike">
                          <a:effectLst/>
                        </a:rPr>
                        <a:t>小时 </a:t>
                      </a:r>
                      <a:r>
                        <a:rPr lang="en-US" altLang="zh-CN" sz="1100" u="none" strike="noStrike">
                          <a:effectLst/>
                        </a:rPr>
                        <a:t>+ 10 </a:t>
                      </a:r>
                      <a:r>
                        <a:rPr lang="zh-CN" altLang="en-US" sz="1100" u="none" strike="noStrike">
                          <a:effectLst/>
                        </a:rPr>
                        <a:t>分钟双次提醒，覆盖课前 </a:t>
                      </a:r>
                      <a:r>
                        <a:rPr lang="en-US" altLang="zh-CN" sz="1100" u="none" strike="noStrike">
                          <a:effectLst/>
                        </a:rPr>
                        <a:t>/ </a:t>
                      </a:r>
                      <a:r>
                        <a:rPr lang="zh-CN" altLang="en-US" sz="1100" u="none" strike="noStrike">
                          <a:effectLst/>
                        </a:rPr>
                        <a:t>活动前准备周期，匹配用户需求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22831808"/>
                  </a:ext>
                </a:extLst>
              </a:tr>
              <a:tr h="57789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四种基础提醒方式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提供 </a:t>
                      </a:r>
                      <a:r>
                        <a:rPr lang="en-US" altLang="zh-CN" sz="1100" u="none" strike="noStrike" dirty="0">
                          <a:effectLst/>
                        </a:rPr>
                        <a:t>App </a:t>
                      </a:r>
                      <a:r>
                        <a:rPr lang="zh-CN" altLang="en-US" sz="1100" u="none" strike="noStrike" dirty="0">
                          <a:effectLst/>
                        </a:rPr>
                        <a:t>弹窗、系统通知、闹钟铃声、短信提醒，适配静音、外出等不同场景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18582227"/>
                  </a:ext>
                </a:extLst>
              </a:tr>
              <a:tr h="57789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行程分类记录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支持课程 </a:t>
                      </a:r>
                      <a:r>
                        <a:rPr lang="en-US" altLang="zh-CN" sz="1100" u="none" strike="noStrike" dirty="0">
                          <a:effectLst/>
                        </a:rPr>
                        <a:t>/ </a:t>
                      </a:r>
                      <a:r>
                        <a:rPr lang="zh-CN" altLang="en-US" sz="1100" u="none" strike="noStrike" dirty="0">
                          <a:effectLst/>
                        </a:rPr>
                        <a:t>考试 </a:t>
                      </a:r>
                      <a:r>
                        <a:rPr lang="en-US" altLang="zh-CN" sz="1100" u="none" strike="noStrike" dirty="0">
                          <a:effectLst/>
                        </a:rPr>
                        <a:t>/ </a:t>
                      </a:r>
                      <a:r>
                        <a:rPr lang="zh-CN" altLang="en-US" sz="1100" u="none" strike="noStrike" dirty="0">
                          <a:effectLst/>
                        </a:rPr>
                        <a:t>社团 </a:t>
                      </a:r>
                      <a:r>
                        <a:rPr lang="en-US" altLang="zh-CN" sz="1100" u="none" strike="noStrike" dirty="0">
                          <a:effectLst/>
                        </a:rPr>
                        <a:t>/ </a:t>
                      </a:r>
                      <a:r>
                        <a:rPr lang="zh-CN" altLang="en-US" sz="1100" u="none" strike="noStrike" dirty="0">
                          <a:effectLst/>
                        </a:rPr>
                        <a:t>兼职 </a:t>
                      </a:r>
                      <a:r>
                        <a:rPr lang="en-US" altLang="zh-CN" sz="1100" u="none" strike="noStrike" dirty="0">
                          <a:effectLst/>
                        </a:rPr>
                        <a:t>/ </a:t>
                      </a:r>
                      <a:r>
                        <a:rPr lang="zh-CN" altLang="en-US" sz="1100" u="none" strike="noStrike" dirty="0">
                          <a:effectLst/>
                        </a:rPr>
                        <a:t>个人事务分类，解决行程分散问题，方便筛选查看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36989168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498E41A-DBA4-2FE9-C9F3-FD776207E2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205630"/>
              </p:ext>
            </p:extLst>
          </p:nvPr>
        </p:nvGraphicFramePr>
        <p:xfrm>
          <a:off x="515107" y="4026239"/>
          <a:ext cx="4967926" cy="14780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8000">
                  <a:extLst>
                    <a:ext uri="{9D8B030D-6E8A-4147-A177-3AD203B41FA5}">
                      <a16:colId xmlns:a16="http://schemas.microsoft.com/office/drawing/2014/main" val="3331806888"/>
                    </a:ext>
                  </a:extLst>
                </a:gridCol>
                <a:gridCol w="963925">
                  <a:extLst>
                    <a:ext uri="{9D8B030D-6E8A-4147-A177-3AD203B41FA5}">
                      <a16:colId xmlns:a16="http://schemas.microsoft.com/office/drawing/2014/main" val="4289396200"/>
                    </a:ext>
                  </a:extLst>
                </a:gridCol>
                <a:gridCol w="3696001">
                  <a:extLst>
                    <a:ext uri="{9D8B030D-6E8A-4147-A177-3AD203B41FA5}">
                      <a16:colId xmlns:a16="http://schemas.microsoft.com/office/drawing/2014/main" val="930201735"/>
                    </a:ext>
                  </a:extLst>
                </a:gridCol>
              </a:tblGrid>
              <a:tr h="38556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11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行程完成标记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支持手动标记行程完成状态，方便复盘（如兼职结束、考试完成）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71089187"/>
                  </a:ext>
                </a:extLst>
              </a:tr>
              <a:tr h="38556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12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校园信息联动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自动抓取平台内校园活动、兼职信息，支持一键添加为行程，拓展行程来源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7592774"/>
                  </a:ext>
                </a:extLst>
              </a:tr>
              <a:tr h="38556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13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行程导出功能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支持导出为 </a:t>
                      </a:r>
                      <a:r>
                        <a:rPr lang="en-US" altLang="zh-CN" sz="1100" u="none" strike="noStrike" dirty="0">
                          <a:effectLst/>
                        </a:rPr>
                        <a:t>PDF/Word </a:t>
                      </a:r>
                      <a:r>
                        <a:rPr lang="zh-CN" altLang="en-US" sz="1100" u="none" strike="noStrike" dirty="0">
                          <a:effectLst/>
                        </a:rPr>
                        <a:t>格式，方便打印备案（如考试日程表、兼职排班表）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53449123"/>
                  </a:ext>
                </a:extLst>
              </a:tr>
              <a:tr h="3213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000" u="none" strike="noStrike">
                          <a:effectLst/>
                        </a:rPr>
                        <a:t>14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u="none" strike="noStrike">
                          <a:effectLst/>
                        </a:rPr>
                        <a:t>大数据推送热点活动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</a:rPr>
                        <a:t>AI</a:t>
                      </a:r>
                      <a:r>
                        <a:rPr lang="zh-CN" altLang="en-US" sz="1000" u="none" strike="noStrike" dirty="0">
                          <a:effectLst/>
                        </a:rPr>
                        <a:t>查询相似行程，进行热点活动推送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85977836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18762EFF-185C-A3AA-9112-A00FA8CB1590}"/>
              </a:ext>
            </a:extLst>
          </p:cNvPr>
          <p:cNvSpPr txBox="1"/>
          <p:nvPr/>
        </p:nvSpPr>
        <p:spPr>
          <a:xfrm>
            <a:off x="11112633" y="3360809"/>
            <a:ext cx="1079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重要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CD2DC58-92E1-038D-72B2-F1E05E326F5F}"/>
              </a:ext>
            </a:extLst>
          </p:cNvPr>
          <p:cNvSpPr txBox="1"/>
          <p:nvPr/>
        </p:nvSpPr>
        <p:spPr>
          <a:xfrm>
            <a:off x="5772348" y="25157"/>
            <a:ext cx="1079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紧急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2F5189FE-011D-99D0-7CA3-BDDE2F6575B7}"/>
                  </a:ext>
                </a:extLst>
              </p14:cNvPr>
              <p14:cNvContentPartPr/>
              <p14:nvPr/>
            </p14:nvContentPartPr>
            <p14:xfrm>
              <a:off x="116407" y="3532165"/>
              <a:ext cx="11009160" cy="1836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2F5189FE-011D-99D0-7CA3-BDDE2F6575B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287" y="3526045"/>
                <a:ext cx="1102140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0A21281C-18DC-6A0F-C3AD-50A6E3CB20E4}"/>
                  </a:ext>
                </a:extLst>
              </p14:cNvPr>
              <p14:cNvContentPartPr/>
              <p14:nvPr/>
            </p14:nvContentPartPr>
            <p14:xfrm>
              <a:off x="8238367" y="5629525"/>
              <a:ext cx="360" cy="360"/>
            </p14:xfrm>
          </p:contentPart>
        </mc:Choice>
        <mc:Fallback xmlns=""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0A21281C-18DC-6A0F-C3AD-50A6E3CB20E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32247" y="5623405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539A04A3-5A0B-6F12-F054-C6195BAB8551}"/>
                  </a:ext>
                </a:extLst>
              </p14:cNvPr>
              <p14:cNvContentPartPr/>
              <p14:nvPr/>
            </p14:nvContentPartPr>
            <p14:xfrm>
              <a:off x="8265007" y="5504245"/>
              <a:ext cx="360" cy="360"/>
            </p14:xfrm>
          </p:contentPart>
        </mc:Choice>
        <mc:Fallback xmlns=""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539A04A3-5A0B-6F12-F054-C6195BAB855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58887" y="5498125"/>
                <a:ext cx="12600" cy="126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096C337F-6157-4F8D-F52C-6926BB768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274123"/>
              </p:ext>
            </p:extLst>
          </p:nvPr>
        </p:nvGraphicFramePr>
        <p:xfrm>
          <a:off x="6576969" y="3896622"/>
          <a:ext cx="4967926" cy="20481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8000">
                  <a:extLst>
                    <a:ext uri="{9D8B030D-6E8A-4147-A177-3AD203B41FA5}">
                      <a16:colId xmlns:a16="http://schemas.microsoft.com/office/drawing/2014/main" val="21133416"/>
                    </a:ext>
                  </a:extLst>
                </a:gridCol>
                <a:gridCol w="963926">
                  <a:extLst>
                    <a:ext uri="{9D8B030D-6E8A-4147-A177-3AD203B41FA5}">
                      <a16:colId xmlns:a16="http://schemas.microsoft.com/office/drawing/2014/main" val="1289984610"/>
                    </a:ext>
                  </a:extLst>
                </a:gridCol>
                <a:gridCol w="3696000">
                  <a:extLst>
                    <a:ext uri="{9D8B030D-6E8A-4147-A177-3AD203B41FA5}">
                      <a16:colId xmlns:a16="http://schemas.microsoft.com/office/drawing/2014/main" val="4021274692"/>
                    </a:ext>
                  </a:extLst>
                </a:gridCol>
              </a:tblGrid>
              <a:tr h="40963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 sz="1100" u="none" strike="noStrike" dirty="0">
                          <a:effectLst/>
                        </a:rPr>
                        <a:t>AI</a:t>
                      </a:r>
                      <a:r>
                        <a:rPr lang="zh-CN" altLang="en-US" sz="1100" u="none" strike="noStrike" dirty="0">
                          <a:effectLst/>
                        </a:rPr>
                        <a:t>记忆行程模板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AI</a:t>
                      </a:r>
                      <a:r>
                        <a:rPr lang="zh-CN" altLang="en-US" sz="1100" u="none" strike="noStrike">
                          <a:effectLst/>
                        </a:rPr>
                        <a:t>记忆设置记录，帮助设置每周固定社团活动、兼职等重复行程，减少重复录入操作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70621206"/>
                  </a:ext>
                </a:extLst>
              </a:tr>
              <a:tr h="40963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行程关键词搜索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支持按名称、时间、分类搜索，快速定位特定行程（如课程时间），提升使用效率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06105053"/>
                  </a:ext>
                </a:extLst>
              </a:tr>
              <a:tr h="40963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自定义提醒频率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允许用户修改默认提醒时间（如提前 </a:t>
                      </a:r>
                      <a:r>
                        <a:rPr lang="en-US" altLang="zh-CN" sz="1100" u="none" strike="noStrike">
                          <a:effectLst/>
                        </a:rPr>
                        <a:t>30 </a:t>
                      </a:r>
                      <a:r>
                        <a:rPr lang="zh-CN" altLang="en-US" sz="1100" u="none" strike="noStrike">
                          <a:effectLst/>
                        </a:rPr>
                        <a:t>分钟 </a:t>
                      </a:r>
                      <a:r>
                        <a:rPr lang="en-US" altLang="zh-CN" sz="1100" u="none" strike="noStrike">
                          <a:effectLst/>
                        </a:rPr>
                        <a:t>+ 5 </a:t>
                      </a:r>
                      <a:r>
                        <a:rPr lang="zh-CN" altLang="en-US" sz="1100" u="none" strike="noStrike">
                          <a:effectLst/>
                        </a:rPr>
                        <a:t>分钟），满足个性化需求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7308043"/>
                  </a:ext>
                </a:extLst>
              </a:tr>
              <a:tr h="40963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多设备行程云同步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支持手机、电脑端实时同步行程数据，满足多场景切换使用，避免信息混乱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15637703"/>
                  </a:ext>
                </a:extLst>
              </a:tr>
              <a:tr h="40963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10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行程共享功能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支持向同学共享社团活动、小组作业等行程，满足协作场景下的同步需求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07725729"/>
                  </a:ext>
                </a:extLst>
              </a:tr>
            </a:tbl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69083990-D0F3-0447-F7DD-EE8140FF9B1E}"/>
              </a:ext>
            </a:extLst>
          </p:cNvPr>
          <p:cNvSpPr txBox="1"/>
          <p:nvPr/>
        </p:nvSpPr>
        <p:spPr>
          <a:xfrm>
            <a:off x="1335741" y="1972277"/>
            <a:ext cx="3128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无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0352042A-FAB5-507E-F7C0-6503AD5456AC}"/>
              </a:ext>
            </a:extLst>
          </p:cNvPr>
          <p:cNvCxnSpPr/>
          <p:nvPr/>
        </p:nvCxnSpPr>
        <p:spPr>
          <a:xfrm flipV="1">
            <a:off x="6096000" y="481781"/>
            <a:ext cx="0" cy="6007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984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324</Words>
  <Application>Microsoft Office PowerPoint</Application>
  <PresentationFormat>宽屏</PresentationFormat>
  <Paragraphs>42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Segoe UI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兴 杜</dc:creator>
  <cp:lastModifiedBy>明珠 杨</cp:lastModifiedBy>
  <cp:revision>2</cp:revision>
  <dcterms:created xsi:type="dcterms:W3CDTF">2025-11-21T16:31:06Z</dcterms:created>
  <dcterms:modified xsi:type="dcterms:W3CDTF">2025-12-02T07:20:39Z</dcterms:modified>
</cp:coreProperties>
</file>